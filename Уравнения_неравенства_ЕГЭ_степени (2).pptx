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2">
          <p15:clr>
            <a:srgbClr val="747775"/>
          </p15:clr>
        </p15:guide>
        <p15:guide id="2" orient="horz" pos="285">
          <p15:clr>
            <a:srgbClr val="747775"/>
          </p15:clr>
        </p15:guide>
        <p15:guide id="3" orient="horz" pos="2958">
          <p15:clr>
            <a:srgbClr val="747775"/>
          </p15:clr>
        </p15:guide>
        <p15:guide id="4" pos="5478">
          <p15:clr>
            <a:srgbClr val="747775"/>
          </p15:clr>
        </p15:guide>
        <p15:guide id="5" orient="horz" pos="69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BADC2B-27D6-409B-A2B3-EC1483D6214C}">
  <a:tblStyle styleId="{89BADC2B-27D6-409B-A2B3-EC1483D621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44" y="162"/>
      </p:cViewPr>
      <p:guideLst>
        <p:guide pos="282"/>
        <p:guide orient="horz" pos="285"/>
        <p:guide orient="horz" pos="2958"/>
        <p:guide pos="5478"/>
        <p:guide orient="horz" pos="6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18c9f8f5e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18c9f8f5e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c1416969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c14169690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1416969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c1416969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c1416969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ec14169690_0_119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500"/>
          </a:p>
        </p:txBody>
      </p:sp>
      <p:sp>
        <p:nvSpPr>
          <p:cNvPr id="79" name="Google Shape;79;g3ec14169690_0_119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ru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73d0d415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73d0d415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3d0d415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f73d0d4157_0_52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500"/>
          </a:p>
        </p:txBody>
      </p:sp>
      <p:sp>
        <p:nvSpPr>
          <p:cNvPr id="110" name="Google Shape;110;g3f73d0d4157_0_52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ru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14169690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14169690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359509fef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359509fef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59509fef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359509fef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59509fef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359509fef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359509fe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359509fe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59509fef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59509fef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3735ca0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3735ca0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735ca0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3735ca0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3735ca0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63735ca0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3735ca0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63735ca0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63735ca0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63735ca0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3735ca0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63735ca0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63735ca0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63735ca08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3735ca0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63735ca0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63735ca0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63735ca0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63735ca0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63735ca0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63735ca08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f63735ca08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3735ca0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63735ca0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3735ca0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63735ca0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3735ca0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63735ca0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3735ca08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63735ca08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63735ca08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63735ca08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63735ca08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63735ca08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63735ca08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63735ca08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63735ca0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63735ca0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359509fe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359509fef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359509fef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359509fef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359509fef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359509fef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63735ca08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63735ca08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63735ca08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63735ca08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63735ca08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63735ca08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63735ca08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63735ca08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63735ca08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63735ca08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63735ca08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f63735ca08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63735ca08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f63735ca08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63735ca08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63735ca08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63735ca08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f63735ca08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63735ca08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63735ca08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63735ca08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f63735ca08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63735ca08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f63735ca08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63735ca08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f63735ca08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63735ca08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f63735ca08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63735ca08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f63735ca08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63735ca08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f63735ca08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63735ca08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63735ca08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63735ca08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f63735ca08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f63735ca08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f63735ca08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63735ca08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63735ca08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63735ca08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63735ca08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63735ca08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f63735ca08_0_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63735ca08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f63735ca08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c1416969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ec1416969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c14169690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ec14169690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ec14169690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ec14169690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0fdf64196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f0fdf64196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63735ca0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f63735ca0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63735ca08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f63735ca08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f63735ca08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f63735ca08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f63735ca08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f63735ca08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f63735ca08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f63735ca08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63735ca08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f63735ca08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63735ca08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f63735ca08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f63735ca08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f63735ca08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63735ca0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f63735ca0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63735ca08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f63735ca08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63735ca08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f63735ca08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f63735ca08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f63735ca08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63735ca08_0_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f63735ca08_0_6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f63735ca08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f63735ca08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63735ca08_0_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f63735ca08_0_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f63735ca08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f63735ca08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f63735ca08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f63735ca08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63735ca08_0_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f63735ca08_0_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f63735ca08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f63735ca08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f63735ca08_0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f63735ca08_0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jp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2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4.png"/><Relationship Id="rId4" Type="http://schemas.openxmlformats.org/officeDocument/2006/relationships/image" Target="../media/image2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4.png"/><Relationship Id="rId4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5.png"/><Relationship Id="rId4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5.png"/><Relationship Id="rId4" Type="http://schemas.openxmlformats.org/officeDocument/2006/relationships/image" Target="../media/image2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2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2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png"/><Relationship Id="rId4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png"/><Relationship Id="rId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2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2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png"/><Relationship Id="rId4" Type="http://schemas.openxmlformats.org/officeDocument/2006/relationships/image" Target="../media/image2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png"/><Relationship Id="rId4" Type="http://schemas.openxmlformats.org/officeDocument/2006/relationships/image" Target="../media/image2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1.png"/><Relationship Id="rId4" Type="http://schemas.openxmlformats.org/officeDocument/2006/relationships/image" Target="../media/image2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25125" y="1045225"/>
            <a:ext cx="54249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5500" b="1">
                <a:solidFill>
                  <a:srgbClr val="FFFFFF"/>
                </a:solidFill>
                <a:latin typeface="Onest"/>
                <a:ea typeface="Onest"/>
                <a:cs typeface="Onest"/>
                <a:sym typeface="Onest"/>
              </a:rPr>
              <a:t>Математика</a:t>
            </a:r>
            <a:endParaRPr sz="5500" b="1">
              <a:solidFill>
                <a:srgbClr val="FFFFFF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52350" y="2453336"/>
            <a:ext cx="5424900" cy="1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Урок № 1</a:t>
            </a:r>
            <a:endParaRPr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269999" lvl="0" indent="-178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nest"/>
              <a:buChar char="●"/>
            </a:pPr>
            <a:r>
              <a:rPr lang="ru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уравнения и неравенства на ЕГЭ (профиль)</a:t>
            </a:r>
            <a:endParaRPr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269999" lvl="0" indent="-178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nest"/>
              <a:buChar char="●"/>
            </a:pPr>
            <a:r>
              <a:rPr lang="ru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свойства степеней, показательные функции</a:t>
            </a:r>
            <a:endParaRPr b="1">
              <a:solidFill>
                <a:srgbClr val="FFFFFF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49074" y="807025"/>
            <a:ext cx="2443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6D9EEB"/>
                </a:solidFill>
                <a:latin typeface="Onest SemiBold"/>
                <a:ea typeface="Onest SemiBold"/>
                <a:cs typeface="Onest SemiBold"/>
                <a:sym typeface="Onest SemiBold"/>
              </a:rPr>
              <a:t>11класс</a:t>
            </a:r>
            <a:endParaRPr>
              <a:solidFill>
                <a:srgbClr val="6D9EEB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456700" y="459175"/>
            <a:ext cx="4115400" cy="42372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Onest"/>
                <a:ea typeface="Onest"/>
                <a:cs typeface="Onest"/>
                <a:sym typeface="Onest"/>
              </a:rPr>
              <a:t>Фото преподавателя.</a:t>
            </a:r>
            <a:br>
              <a:rPr lang="ru">
                <a:latin typeface="Onest"/>
                <a:ea typeface="Onest"/>
                <a:cs typeface="Onest"/>
                <a:sym typeface="Onest"/>
              </a:rPr>
            </a:br>
            <a:br>
              <a:rPr lang="ru">
                <a:latin typeface="Onest"/>
                <a:ea typeface="Onest"/>
                <a:cs typeface="Onest"/>
                <a:sym typeface="Onest"/>
              </a:rPr>
            </a:br>
            <a:r>
              <a:rPr lang="ru" sz="1100" i="1">
                <a:latin typeface="Onest"/>
                <a:ea typeface="Onest"/>
                <a:cs typeface="Onest"/>
                <a:sym typeface="Onest"/>
              </a:rPr>
              <a:t>Желательно, скинуть сначала мне </a:t>
            </a:r>
            <a:br>
              <a:rPr lang="ru" sz="1100" i="1">
                <a:latin typeface="Onest"/>
                <a:ea typeface="Onest"/>
                <a:cs typeface="Onest"/>
                <a:sym typeface="Onest"/>
              </a:rPr>
            </a:br>
            <a:r>
              <a:rPr lang="ru" sz="1100" i="1">
                <a:latin typeface="Onest"/>
                <a:ea typeface="Onest"/>
                <a:cs typeface="Onest"/>
                <a:sym typeface="Onest"/>
              </a:rPr>
              <a:t>(Ане Корольковой), чтобы я подредактировала </a:t>
            </a:r>
            <a:br>
              <a:rPr lang="ru" sz="1100" i="1">
                <a:latin typeface="Onest"/>
                <a:ea typeface="Onest"/>
                <a:cs typeface="Onest"/>
                <a:sym typeface="Onest"/>
              </a:rPr>
            </a:br>
            <a:r>
              <a:rPr lang="ru" sz="1100" i="1">
                <a:latin typeface="Onest"/>
                <a:ea typeface="Onest"/>
                <a:cs typeface="Onest"/>
                <a:sym typeface="Onest"/>
              </a:rPr>
              <a:t>по цвету и свету. Будет смотреться более профессионально.</a:t>
            </a:r>
            <a:endParaRPr sz="1100" i="1"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3" name="Google Shape;63;p15"/>
          <p:cNvSpPr/>
          <p:nvPr/>
        </p:nvSpPr>
        <p:spPr>
          <a:xfrm flipH="1">
            <a:off x="3906925" y="703450"/>
            <a:ext cx="3034500" cy="704100"/>
          </a:xfrm>
          <a:prstGeom prst="wedgeRoundRectCallout">
            <a:avLst>
              <a:gd name="adj1" fmla="val 37223"/>
              <a:gd name="adj2" fmla="val 90719"/>
              <a:gd name="adj3" fmla="val 0"/>
            </a:avLst>
          </a:prstGeom>
          <a:solidFill>
            <a:srgbClr val="FFFFFF"/>
          </a:solidFill>
          <a:ln w="2217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975" tIns="70975" rIns="70975" bIns="70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7"/>
          </a:p>
        </p:txBody>
      </p:sp>
      <p:sp>
        <p:nvSpPr>
          <p:cNvPr id="64" name="Google Shape;64;p15"/>
          <p:cNvSpPr/>
          <p:nvPr/>
        </p:nvSpPr>
        <p:spPr>
          <a:xfrm>
            <a:off x="4011766" y="900201"/>
            <a:ext cx="28245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18">
                <a:solidFill>
                  <a:srgbClr val="666666"/>
                </a:solidFill>
                <a:latin typeface="Onest Light"/>
                <a:ea typeface="Onest Light"/>
                <a:cs typeface="Onest Light"/>
                <a:sym typeface="Onest Light"/>
              </a:rPr>
              <a:t>Давай знакомиться!</a:t>
            </a:r>
            <a:endParaRPr sz="2018">
              <a:solidFill>
                <a:srgbClr val="666666"/>
              </a:solidFill>
              <a:latin typeface="Onest Light"/>
              <a:ea typeface="Onest Light"/>
              <a:cs typeface="Onest Light"/>
              <a:sym typeface="Onest Ligh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581600" y="2192375"/>
            <a:ext cx="41154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dk1"/>
                </a:solidFill>
                <a:latin typeface="Onest ExtraBold"/>
                <a:ea typeface="Onest ExtraBold"/>
                <a:cs typeface="Onest ExtraBold"/>
                <a:sym typeface="Onest ExtraBold"/>
              </a:rPr>
              <a:t>ФАМИЛИЯ</a:t>
            </a:r>
            <a:br>
              <a:rPr lang="ru" sz="3000">
                <a:solidFill>
                  <a:schemeClr val="dk1"/>
                </a:solidFill>
                <a:latin typeface="Onest ExtraBold"/>
                <a:ea typeface="Onest ExtraBold"/>
                <a:cs typeface="Onest ExtraBold"/>
                <a:sym typeface="Onest ExtraBold"/>
              </a:rPr>
            </a:br>
            <a:r>
              <a:rPr lang="ru" sz="3000">
                <a:solidFill>
                  <a:schemeClr val="dk1"/>
                </a:solidFill>
                <a:latin typeface="Onest ExtraBold"/>
                <a:ea typeface="Onest ExtraBold"/>
                <a:cs typeface="Onest ExtraBold"/>
                <a:sym typeface="Onest ExtraBold"/>
              </a:rPr>
              <a:t>Имя Отчество</a:t>
            </a:r>
            <a:endParaRPr sz="3000">
              <a:solidFill>
                <a:schemeClr val="dk1"/>
              </a:solidFill>
              <a:latin typeface="Onest ExtraBold"/>
              <a:ea typeface="Onest ExtraBold"/>
              <a:cs typeface="Onest ExtraBold"/>
              <a:sym typeface="Onest ExtraBold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581600" y="3266275"/>
            <a:ext cx="41154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несколько слов </a:t>
            </a:r>
            <a:br>
              <a:rPr lang="ru" sz="18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</a:br>
            <a:r>
              <a:rPr lang="ru" sz="1800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о преподавателе</a:t>
            </a:r>
            <a:endParaRPr sz="1800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47000" y="452475"/>
            <a:ext cx="82503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Правила урока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47000" y="3992400"/>
            <a:ext cx="4125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Уважать участников </a:t>
            </a:r>
            <a:b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и преподавателя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572000" y="3992400"/>
            <a:ext cx="4125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Слушать </a:t>
            </a:r>
            <a:b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и быть активным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4" name="Google Shape;74;p16" title="no-background (5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794" y="1220950"/>
            <a:ext cx="2635420" cy="263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no-background (6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0450" y="1376262"/>
            <a:ext cx="2480108" cy="248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6949" y="95250"/>
            <a:ext cx="351801" cy="3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-601100" y="-554850"/>
            <a:ext cx="447000" cy="44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3" name="Google Shape;83;p17"/>
          <p:cNvSpPr/>
          <p:nvPr/>
        </p:nvSpPr>
        <p:spPr>
          <a:xfrm>
            <a:off x="9510725" y="4892350"/>
            <a:ext cx="447000" cy="44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4" name="Google Shape;84;p17"/>
          <p:cNvSpPr/>
          <p:nvPr/>
        </p:nvSpPr>
        <p:spPr>
          <a:xfrm>
            <a:off x="447004" y="452503"/>
            <a:ext cx="40050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rPr>
              <a:t>План</a:t>
            </a:r>
            <a:r>
              <a:rPr lang="ru" sz="3000" b="0" i="0" u="none" strike="noStrike" cap="none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rPr>
              <a:t> урока</a:t>
            </a:r>
            <a:endParaRPr sz="3000" b="0" i="0" u="none" strike="noStrike" cap="none">
              <a:solidFill>
                <a:schemeClr val="lt1"/>
              </a:solidFill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31000" y="2534923"/>
            <a:ext cx="4172400" cy="650700"/>
          </a:xfrm>
          <a:prstGeom prst="roundRect">
            <a:avLst>
              <a:gd name="adj" fmla="val 71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FB5018"/>
              </a:highlight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31000" y="1779424"/>
            <a:ext cx="4172400" cy="650700"/>
          </a:xfrm>
          <a:prstGeom prst="roundRect">
            <a:avLst>
              <a:gd name="adj" fmla="val 71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FB5018"/>
              </a:highlight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31000" y="1023925"/>
            <a:ext cx="4172400" cy="650700"/>
          </a:xfrm>
          <a:prstGeom prst="roundRect">
            <a:avLst>
              <a:gd name="adj" fmla="val 71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FB5018"/>
              </a:highlight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85511" y="1087462"/>
            <a:ext cx="30753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Повторение свойств степеней</a:t>
            </a:r>
            <a:endParaRPr sz="1300" b="1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885511" y="1880772"/>
            <a:ext cx="34311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Показательная функция и её свойства</a:t>
            </a:r>
            <a:endParaRPr sz="1300" b="1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885511" y="2636266"/>
            <a:ext cx="3292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Показательные уравнения</a:t>
            </a:r>
            <a:endParaRPr sz="1300" b="1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31000" y="3290422"/>
            <a:ext cx="4172400" cy="650700"/>
          </a:xfrm>
          <a:prstGeom prst="roundRect">
            <a:avLst>
              <a:gd name="adj" fmla="val 71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FB5018"/>
              </a:highlight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885511" y="3391760"/>
            <a:ext cx="3490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Показательные неравенства</a:t>
            </a:r>
            <a:endParaRPr sz="1300" b="1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47000" y="1176043"/>
            <a:ext cx="367800" cy="357600"/>
          </a:xfrm>
          <a:prstGeom prst="ellipse">
            <a:avLst/>
          </a:prstGeom>
          <a:solidFill>
            <a:srgbClr val="1155CC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1</a:t>
            </a:r>
            <a:endParaRPr sz="17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47000" y="1930150"/>
            <a:ext cx="367800" cy="357600"/>
          </a:xfrm>
          <a:prstGeom prst="ellipse">
            <a:avLst/>
          </a:prstGeom>
          <a:solidFill>
            <a:srgbClr val="1155CC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2</a:t>
            </a:r>
            <a:endParaRPr sz="17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47000" y="2684258"/>
            <a:ext cx="367800" cy="357600"/>
          </a:xfrm>
          <a:prstGeom prst="ellipse">
            <a:avLst/>
          </a:prstGeom>
          <a:solidFill>
            <a:srgbClr val="1155CC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3</a:t>
            </a:r>
            <a:endParaRPr sz="17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47000" y="3438366"/>
            <a:ext cx="367800" cy="357600"/>
          </a:xfrm>
          <a:prstGeom prst="ellipse">
            <a:avLst/>
          </a:prstGeom>
          <a:solidFill>
            <a:srgbClr val="1155CC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4</a:t>
            </a:r>
            <a:endParaRPr sz="17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97" name="Google Shape;97;p17" title="e81a41a0-0d0a-4ed5-b19d-c219eb1f216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1555" y="378150"/>
            <a:ext cx="4387197" cy="438719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631000" y="4045914"/>
            <a:ext cx="4172400" cy="650700"/>
          </a:xfrm>
          <a:prstGeom prst="roundRect">
            <a:avLst>
              <a:gd name="adj" fmla="val 71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FB5018"/>
              </a:highlight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47000" y="4192474"/>
            <a:ext cx="367800" cy="357600"/>
          </a:xfrm>
          <a:prstGeom prst="ellipse">
            <a:avLst/>
          </a:prstGeom>
          <a:solidFill>
            <a:srgbClr val="1155CC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5</a:t>
            </a:r>
            <a:endParaRPr sz="17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885511" y="4147158"/>
            <a:ext cx="3490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Разбор заданий ЕГЭ </a:t>
            </a:r>
            <a:b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</a:br>
            <a:r>
              <a:rPr lang="ru" sz="1300" b="1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профильного уровня (часть 1)</a:t>
            </a:r>
            <a:endParaRPr sz="1300" b="1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Степени и показательная функция — это просто!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935350" y="1709800"/>
            <a:ext cx="73515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Сегодня мы превратим </a:t>
            </a:r>
            <a:r>
              <a:rPr lang="ru">
                <a:solidFill>
                  <a:schemeClr val="dk1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степени и показательную функцию</a:t>
            </a:r>
            <a:r>
              <a:rPr lang="ru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из абстрактных формул в удобный инструмент для быстрого решения задач. </a:t>
            </a:r>
            <a:endParaRPr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Умение свободно работать со </a:t>
            </a:r>
            <a:r>
              <a:rPr lang="ru">
                <a:solidFill>
                  <a:schemeClr val="dk1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степенями</a:t>
            </a:r>
            <a:r>
              <a:rPr lang="ru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, </a:t>
            </a:r>
            <a:r>
              <a:rPr lang="ru">
                <a:solidFill>
                  <a:schemeClr val="dk1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показательными уравнениями</a:t>
            </a:r>
            <a:r>
              <a:rPr lang="ru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и </a:t>
            </a:r>
            <a:endParaRPr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неравенствами</a:t>
            </a:r>
            <a:endParaRPr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i="1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— это то, что регулярно встречается в первой части профильного ЕГЭ и приносит гарантированные баллы. 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6949" y="95250"/>
            <a:ext cx="351801" cy="3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-601100" y="-554850"/>
            <a:ext cx="447000" cy="44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4" name="Google Shape;114;p19"/>
          <p:cNvSpPr/>
          <p:nvPr/>
        </p:nvSpPr>
        <p:spPr>
          <a:xfrm>
            <a:off x="9510725" y="4892350"/>
            <a:ext cx="447000" cy="44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5" name="Google Shape;115;p19"/>
          <p:cNvSpPr/>
          <p:nvPr/>
        </p:nvSpPr>
        <p:spPr>
          <a:xfrm>
            <a:off x="447004" y="452503"/>
            <a:ext cx="40050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solidFill>
                  <a:schemeClr val="lt1"/>
                </a:solidFill>
                <a:latin typeface="Onest SemiBold"/>
                <a:ea typeface="Onest SemiBold"/>
                <a:cs typeface="Onest SemiBold"/>
                <a:sym typeface="Onest SemiBold"/>
              </a:rPr>
              <a:t>Цели урока</a:t>
            </a:r>
            <a:endParaRPr sz="3000">
              <a:solidFill>
                <a:schemeClr val="lt1"/>
              </a:solidFill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446575" y="1108125"/>
            <a:ext cx="8250300" cy="35883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3240000" bIns="91425" anchor="ctr" anchorCtr="0">
            <a:noAutofit/>
          </a:bodyPr>
          <a:lstStyle/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nest Medium"/>
              <a:buChar char="★"/>
            </a:pP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Повторить определение и свойства степени </a:t>
            </a:r>
            <a:b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 натуральным, целым и рациональным показателем.</a:t>
            </a: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nest Medium"/>
              <a:buChar char="★"/>
            </a:pP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Закрепить алгоритм решения показательных уравнений </a:t>
            </a:r>
            <a:b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методом приведения </a:t>
            </a:r>
            <a:b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к одному основанию.</a:t>
            </a: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nest Medium"/>
              <a:buChar char="★"/>
            </a:pP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Отработать решение показательных неравенств с учётом монотонности показательной функции.</a:t>
            </a: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nest Medium"/>
              <a:buChar char="★"/>
            </a:pP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Научиться уверенно решать задания первой части </a:t>
            </a:r>
            <a:b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</a:br>
            <a:r>
              <a:rPr lang="ru" sz="16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ЕГЭ профильного уровня по этой теме.</a:t>
            </a:r>
            <a:endParaRPr/>
          </a:p>
        </p:txBody>
      </p:sp>
      <p:pic>
        <p:nvPicPr>
          <p:cNvPr id="117" name="Google Shape;117;p19" title="no-background.png"/>
          <p:cNvPicPr preferRelativeResize="0"/>
          <p:nvPr/>
        </p:nvPicPr>
        <p:blipFill rotWithShape="1">
          <a:blip r:embed="rId5">
            <a:alphaModFix/>
          </a:blip>
          <a:srcRect l="27358" t="10109" r="29531" b="13937"/>
          <a:stretch/>
        </p:blipFill>
        <p:spPr>
          <a:xfrm rot="396869">
            <a:off x="6404075" y="531673"/>
            <a:ext cx="1567126" cy="3332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Степень с целым показателем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446575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769975" y="2692125"/>
            <a:ext cx="3612300" cy="15186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Степень aⁿ</a:t>
            </a: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— произведение n множителей, равных a: aⁿ = a·a·…·a (n раз).</a:t>
            </a:r>
            <a:endParaRPr sz="12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2145150" y="1218000"/>
            <a:ext cx="4854000" cy="10374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Нулевой показатель</a:t>
            </a: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— по определению </a:t>
            </a:r>
            <a:r>
              <a:rPr lang="ru" sz="18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a⁰ = 1</a:t>
            </a: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при </a:t>
            </a:r>
            <a:r>
              <a:rPr lang="ru" sz="18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a ≠ 0</a:t>
            </a: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0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4883350" y="2692100"/>
            <a:ext cx="3612300" cy="15186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Отрицательный целый показатель</a:t>
            </a: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 — a⁻ⁿ = 1 / aⁿ, где a ≠ 0, n — натуральное число.</a:t>
            </a:r>
            <a:endParaRPr sz="12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Основные свойства степеней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46575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Onest"/>
                <a:ea typeface="Onest"/>
                <a:cs typeface="Onest"/>
                <a:sym typeface="Onest"/>
              </a:rPr>
              <a:t>При умножении степеней с одинаковым основанием</a:t>
            </a:r>
            <a:r>
              <a:rPr lang="ru" sz="1800" dirty="0">
                <a:latin typeface="Onest Medium"/>
                <a:ea typeface="Onest Medium"/>
                <a:cs typeface="Onest Medium"/>
                <a:sym typeface="Onest Medium"/>
              </a:rPr>
              <a:t> показатели складываются: aᵐ · aⁿ = aᵐ⁺ⁿ. </a:t>
            </a: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Например</a:t>
            </a:r>
            <a:r>
              <a:rPr lang="ru" sz="1800" dirty="0">
                <a:latin typeface="Onest Medium"/>
                <a:ea typeface="Onest Medium"/>
                <a:cs typeface="Onest Medium"/>
                <a:sym typeface="Onest Medium"/>
              </a:rPr>
              <a:t>,</a:t>
            </a: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Onest"/>
                <a:ea typeface="Onest"/>
                <a:cs typeface="Onest"/>
                <a:sym typeface="Onest"/>
              </a:rPr>
              <a:t>При делении степеней с одинаковым основанием</a:t>
            </a:r>
            <a:r>
              <a:rPr lang="ru" sz="1800" dirty="0">
                <a:latin typeface="Onest Medium"/>
                <a:ea typeface="Onest Medium"/>
                <a:cs typeface="Onest Medium"/>
                <a:sym typeface="Onest Medium"/>
              </a:rPr>
              <a:t> показатели вычитаются: aᵐ : aⁿ = aᵐ⁻ⁿ. </a:t>
            </a: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Например</a:t>
            </a:r>
            <a:r>
              <a:rPr lang="ru" sz="1800" dirty="0">
                <a:latin typeface="Onest Medium"/>
                <a:ea typeface="Onest Medium"/>
                <a:cs typeface="Onest Medium"/>
                <a:sym typeface="Onest Medium"/>
              </a:rPr>
              <a:t>,</a:t>
            </a: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Onest"/>
                <a:ea typeface="Onest"/>
                <a:cs typeface="Onest"/>
                <a:sym typeface="Onest"/>
              </a:rPr>
              <a:t>Равенства верны для a ≠ 0.</a:t>
            </a: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35" name="Google Shape;135;p21" title="img.png"/>
          <p:cNvPicPr preferRelativeResize="0"/>
          <p:nvPr/>
        </p:nvPicPr>
        <p:blipFill rotWithShape="1">
          <a:blip r:embed="rId3">
            <a:alphaModFix/>
          </a:blip>
          <a:srcRect t="4874" b="4874"/>
          <a:stretch/>
        </p:blipFill>
        <p:spPr>
          <a:xfrm>
            <a:off x="8386875" y="295438"/>
            <a:ext cx="620000" cy="5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0676" y="1839251"/>
            <a:ext cx="1178646" cy="3006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0676" y="2904400"/>
            <a:ext cx="1178646" cy="3006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Рациональный показатель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9101" name="TB9101"/>
          <p:cNvSpPr txBox="1"/>
          <p:nvPr/>
        </p:nvSpPr>
        <p:spPr>
          <a:xfrm>
            <a:off x="750000" y="980000"/>
            <a:ext cx="77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Для a ≥ 0 и натурального n корень степени n из числа a можно записать в виде степени:</a:t>
            </a:r>
          </a:p>
        </p:txBody>
      </p:sp>
      <p:pic>
        <p:nvPicPr>
          <p:cNvPr id="9102" name="Expr9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000" y="1600000"/>
            <a:ext cx="1175081" cy="4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3" name="TB9103"/>
          <p:cNvSpPr txBox="1"/>
          <p:nvPr/>
        </p:nvSpPr>
        <p:spPr>
          <a:xfrm>
            <a:off x="750000" y="2050000"/>
            <a:ext cx="7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В общем случае для рационального показателя m/n:</a:t>
            </a:r>
          </a:p>
        </p:txBody>
      </p:sp>
      <p:pic>
        <p:nvPicPr>
          <p:cNvPr id="9104" name="Expr9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0000" y="2420000"/>
            <a:ext cx="2345573" cy="4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5" name="TB9105"/>
          <p:cNvSpPr txBox="1"/>
          <p:nvPr/>
        </p:nvSpPr>
        <p:spPr>
          <a:xfrm>
            <a:off x="750000" y="2870000"/>
            <a:ext cx="77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Все свойства степеней сохраняются и для рациональных показателей.</a:t>
            </a:r>
          </a:p>
        </p:txBody>
      </p:sp>
      <p:sp>
        <p:nvSpPr>
          <p:cNvPr id="9106" name="ExampleCard"/>
          <p:cNvSpPr/>
          <p:nvPr/>
        </p:nvSpPr>
        <p:spPr>
          <a:xfrm>
            <a:off x="3295574" y="3310000"/>
            <a:ext cx="2322610" cy="16400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</p:spPr>
        <p:txBody>
          <a:bodyPr/>
          <a:lstStyle/>
          <a:p>
            <a:pPr algn="l"/>
            <a:endParaRPr/>
          </a:p>
        </p:txBody>
      </p:sp>
      <p:pic>
        <p:nvPicPr>
          <p:cNvPr id="9107" name="Expr910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5154" y="3309999"/>
            <a:ext cx="2228248" cy="157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Сравнение степеней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446575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1090813" y="1177638"/>
            <a:ext cx="6962700" cy="5373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Если основание a &gt; 1, то с увеличением показателя степень возрастает: чем больше показатель, тем больше значение степени.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1090813" y="2907688"/>
            <a:ext cx="6962700" cy="5373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Если основание 0 &lt; a &lt; 1, то с увеличением показателя </a:t>
            </a:r>
            <a:b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</a:b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степень, наоборот, убывает.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3513" y="2143582"/>
            <a:ext cx="1876425" cy="335436"/>
          </a:xfrm>
          <a:prstGeom prst="rect">
            <a:avLst/>
          </a:prstGeom>
          <a:noFill/>
          <a:ln w="19050" cap="flat" cmpd="sng">
            <a:solidFill>
              <a:srgbClr val="317AB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7740" y="3894448"/>
            <a:ext cx="2028820" cy="362678"/>
          </a:xfrm>
          <a:prstGeom prst="rect">
            <a:avLst/>
          </a:prstGeom>
          <a:noFill/>
          <a:ln w="19050" cap="flat" cmpd="sng">
            <a:solidFill>
              <a:srgbClr val="317AB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Свойства степеней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446575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925" y="1972150"/>
            <a:ext cx="1340125" cy="172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4788" y="1446251"/>
            <a:ext cx="5040000" cy="1210797"/>
          </a:xfrm>
          <a:prstGeom prst="rect">
            <a:avLst/>
          </a:prstGeom>
          <a:noFill/>
          <a:ln w="19050" cap="flat" cmpd="sng">
            <a:solidFill>
              <a:srgbClr val="317AB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513" y="3222245"/>
            <a:ext cx="5039999" cy="1332609"/>
          </a:xfrm>
          <a:prstGeom prst="rect">
            <a:avLst/>
          </a:prstGeom>
          <a:noFill/>
          <a:ln w="19050" cap="flat" cmpd="sng">
            <a:solidFill>
              <a:srgbClr val="317AB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174" name="Google Shape;174;p2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p2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73333" cy="6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571750" y="4559313"/>
            <a:ext cx="783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187" name="Google Shape;187;p2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32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73333" cy="6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697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13" name="Google Shape;213;p2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6" name="Google Shape;216;p2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25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697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26" name="Google Shape;226;p2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9" name="Google Shape;229;p2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14005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39" name="Google Shape;239;p3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0" name="Google Shape;24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2" name="Google Shape;242;p3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64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43" name="Google Shape;243;p3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14005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52" name="Google Shape;252;p3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3" name="Google Shape;25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5" name="Google Shape;255;p3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7333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65" name="Google Shape;265;p3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66" name="Google Shape;26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8" name="Google Shape;268;p3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49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47333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78" name="Google Shape;278;p3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1" name="Google Shape;281;p3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83" name="Google Shape;28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7622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291" name="Google Shape;291;p3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92" name="Google Shape;29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4" name="Google Shape;294;p3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9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295" name="Google Shape;295;p3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296" name="Google Shape;29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7622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04" name="Google Shape;304;p3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5" name="Google Shape;30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7" name="Google Shape;307;p3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09" name="Google Shape;309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2097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17" name="Google Shape;317;p3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18" name="Google Shape;31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0" name="Google Shape;320;p3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22" name="Google Shape;322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20972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30" name="Google Shape;330;p3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31" name="Google Shape;33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3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35" name="Google Shape;335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191666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43" name="Google Shape;343;p3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44" name="Google Shape;34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6" name="Google Shape;346;p3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9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191666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56" name="Google Shape;356;p3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57" name="Google Shape;35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9" name="Google Shape;359;p3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61" name="Google Shape;361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86333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67" name="Google Shape;367;p40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69" name="Google Shape;369;p4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70" name="Google Shape;37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2" name="Google Shape;372;p4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1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73" name="Google Shape;373;p4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74" name="Google Shape;374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86333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82" name="Google Shape;382;p4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83" name="Google Shape;383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5" name="Google Shape;385;p4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86" name="Google Shape;386;p4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387" name="Google Shape;387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97489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93" name="Google Shape;393;p42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395" name="Google Shape;395;p4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96" name="Google Shape;39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8" name="Google Shape;398;p4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3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399" name="Google Shape;399;p4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400" name="Google Shape;400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1974893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06" name="Google Shape;406;p43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408" name="Google Shape;408;p4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" name="Google Shape;40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1" name="Google Shape;411;p4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413" name="Google Shape;413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931971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19" name="Google Shape;419;p44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421" name="Google Shape;421;p44"/>
          <p:cNvGraphicFramePr/>
          <p:nvPr/>
        </p:nvGraphicFramePr>
        <p:xfrm>
          <a:off x="0" y="5296825"/>
          <a:ext cx="2215675" cy="35049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22" name="Google Shape;42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4" name="Google Shape;424;p4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426" name="Google Shape;426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520000"/>
            <a:ext cx="931971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Показательная функция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32" name="Google Shape;432;p45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33" name="Google Shape;433;p45"/>
          <p:cNvSpPr/>
          <p:nvPr/>
        </p:nvSpPr>
        <p:spPr>
          <a:xfrm>
            <a:off x="446575" y="928000"/>
            <a:ext cx="8250300" cy="41000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34" name="Google Shape;434;p45"/>
          <p:cNvSpPr/>
          <p:nvPr/>
        </p:nvSpPr>
        <p:spPr>
          <a:xfrm>
            <a:off x="747325" y="1143050"/>
            <a:ext cx="7648800" cy="22656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Показательной функцией называют функцию вида y = aˣ, где a &gt; 0 и a ≠ 1. Областью определения такой функции являются все действительные числа, а областью значений — все положительные числа.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График показательной функции всегда проходит через точку (0; 1), так как a⁰ = 1 при любом основании a.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Функция определена только при положительном основании a, не равном единице.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844375" y="3653200"/>
            <a:ext cx="149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436" name="Google Shape;43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000" y="3330000"/>
            <a:ext cx="1950000" cy="15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Свойства функции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42" name="Google Shape;442;p46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43" name="Google Shape;443;p46"/>
          <p:cNvSpPr/>
          <p:nvPr/>
        </p:nvSpPr>
        <p:spPr>
          <a:xfrm>
            <a:off x="446850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Onest"/>
              <a:ea typeface="Onest"/>
              <a:cs typeface="Onest"/>
              <a:sym typeface="One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44" name="Google Shape;444;p46"/>
          <p:cNvSpPr/>
          <p:nvPr/>
        </p:nvSpPr>
        <p:spPr>
          <a:xfrm>
            <a:off x="714300" y="1146900"/>
            <a:ext cx="6696000" cy="4815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 Medium"/>
              <a:buAutoNum type="arabicPeriod"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Если a &gt; 1, функция y = aˣ возрастает: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чем больше x, тем больше значение aˣ.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45" name="Google Shape;445;p46"/>
          <p:cNvSpPr/>
          <p:nvPr/>
        </p:nvSpPr>
        <p:spPr>
          <a:xfrm>
            <a:off x="1036800" y="1740360"/>
            <a:ext cx="6696000" cy="4815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2. Если 0 &lt; a &lt; 1, функция y = aˣ убывает.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46" name="Google Shape;446;p46"/>
          <p:cNvSpPr/>
          <p:nvPr/>
        </p:nvSpPr>
        <p:spPr>
          <a:xfrm>
            <a:off x="1309675" y="2333809"/>
            <a:ext cx="6696000" cy="4815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3. Функция y = aˣ всегда положительна: aˣ &gt; 0.</a:t>
            </a:r>
            <a:endParaRPr sz="12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447" name="Google Shape;447;p46"/>
          <p:cNvSpPr/>
          <p:nvPr/>
        </p:nvSpPr>
        <p:spPr>
          <a:xfrm>
            <a:off x="1723125" y="2927258"/>
            <a:ext cx="6696000" cy="481500"/>
          </a:xfrm>
          <a:prstGeom prst="roundRect">
            <a:avLst>
              <a:gd name="adj" fmla="val 16667"/>
            </a:avLst>
          </a:prstGeom>
          <a:solidFill>
            <a:srgbClr val="BEE6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4. График всегда проходит через точку (0; 1).</a:t>
            </a:r>
            <a:endParaRPr sz="12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pic>
        <p:nvPicPr>
          <p:cNvPr id="448" name="Google Shape;44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2000" y="3480000"/>
            <a:ext cx="1550000" cy="13492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2000" y="3480000"/>
            <a:ext cx="1550000" cy="13492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Показательные уравнения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56" name="Google Shape;456;p47"/>
          <p:cNvSpPr/>
          <p:nvPr/>
        </p:nvSpPr>
        <p:spPr>
          <a:xfrm>
            <a:off x="446575" y="92800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57" name="Google Shape;457;p47"/>
          <p:cNvSpPr/>
          <p:nvPr/>
        </p:nvSpPr>
        <p:spPr>
          <a:xfrm>
            <a:off x="803050" y="1212000"/>
            <a:ext cx="7707000" cy="15000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Привести обе части уравнения к одному и тому же основанию.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Приравнять показатели степеней (так как показательная функция строго монотонна).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Решить полученное уравнение относительно переменной.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34201" name="ExCard"/>
          <p:cNvSpPr/>
          <p:nvPr/>
        </p:nvSpPr>
        <p:spPr>
          <a:xfrm>
            <a:off x="700000" y="2932000"/>
            <a:ext cx="7744000" cy="18100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endParaRPr/>
          </a:p>
        </p:txBody>
      </p:sp>
      <p:sp>
        <p:nvSpPr>
          <p:cNvPr id="34202" name="ExLabel"/>
          <p:cNvSpPr txBox="1"/>
          <p:nvPr/>
        </p:nvSpPr>
        <p:spPr>
          <a:xfrm>
            <a:off x="920000" y="3022000"/>
            <a:ext cx="4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 b="1">
                <a:solidFill>
                  <a:srgbClr val="1A2B6B"/>
                </a:solidFill>
                <a:latin typeface="Onest"/>
                <a:ea typeface="Onest"/>
                <a:cs typeface="Onest"/>
                <a:sym typeface="Onest"/>
              </a:rPr>
              <a:t>Пример</a:t>
            </a:r>
          </a:p>
        </p:txBody>
      </p:sp>
      <p:pic>
        <p:nvPicPr>
          <p:cNvPr id="34203" name="ExIm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000" y="3372000"/>
            <a:ext cx="2954757" cy="12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Показательные неравенства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64" name="Google Shape;464;p48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65" name="Google Shape;465;p48"/>
          <p:cNvSpPr/>
          <p:nvPr/>
        </p:nvSpPr>
        <p:spPr>
          <a:xfrm>
            <a:off x="446850" y="96935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66" name="Google Shape;466;p48"/>
          <p:cNvSpPr/>
          <p:nvPr/>
        </p:nvSpPr>
        <p:spPr>
          <a:xfrm>
            <a:off x="803050" y="1212000"/>
            <a:ext cx="7707000" cy="1500000"/>
          </a:xfrm>
          <a:prstGeom prst="roundRect">
            <a:avLst>
              <a:gd name="adj" fmla="val 16667"/>
            </a:avLst>
          </a:prstGeom>
          <a:solidFill>
            <a:srgbClr val="EAF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Привести обе части неравенства к одному основанию a.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Если a &gt; 1 — знак неравенства при переходе к показателям сохраняется.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 SemiBold"/>
              <a:buAutoNum type="arabicPeriod"/>
            </a:pPr>
            <a:r>
              <a:rPr lang="ru" sz="1800">
                <a:latin typeface="Onest SemiBold"/>
                <a:ea typeface="Onest SemiBold"/>
                <a:cs typeface="Onest SemiBold"/>
                <a:sym typeface="Onest SemiBold"/>
              </a:rPr>
              <a:t>Если 0 &lt; a &lt; 1 — знак неравенства при переходе к показателям меняется на противоположный.</a:t>
            </a: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SemiBold"/>
              <a:ea typeface="Onest SemiBold"/>
              <a:cs typeface="Onest SemiBold"/>
              <a:sym typeface="Onest SemiBold"/>
            </a:endParaRPr>
          </a:p>
        </p:txBody>
      </p:sp>
      <p:sp>
        <p:nvSpPr>
          <p:cNvPr id="35201" name="ExCard"/>
          <p:cNvSpPr/>
          <p:nvPr/>
        </p:nvSpPr>
        <p:spPr>
          <a:xfrm>
            <a:off x="700000" y="2932000"/>
            <a:ext cx="7744000" cy="18100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endParaRPr/>
          </a:p>
        </p:txBody>
      </p:sp>
      <p:sp>
        <p:nvSpPr>
          <p:cNvPr id="35202" name="ExLabel"/>
          <p:cNvSpPr txBox="1"/>
          <p:nvPr/>
        </p:nvSpPr>
        <p:spPr>
          <a:xfrm>
            <a:off x="920000" y="3022000"/>
            <a:ext cx="4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 b="1">
                <a:solidFill>
                  <a:srgbClr val="1A2B6B"/>
                </a:solidFill>
                <a:latin typeface="Onest"/>
                <a:ea typeface="Onest"/>
                <a:cs typeface="Onest"/>
                <a:sym typeface="Onest"/>
              </a:rPr>
              <a:t>Пример</a:t>
            </a:r>
          </a:p>
        </p:txBody>
      </p:sp>
      <p:pic>
        <p:nvPicPr>
          <p:cNvPr id="35203" name="ExIm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000" y="3372000"/>
            <a:ext cx="3561320" cy="12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9"/>
          <p:cNvSpPr/>
          <p:nvPr/>
        </p:nvSpPr>
        <p:spPr>
          <a:xfrm>
            <a:off x="447000" y="452475"/>
            <a:ext cx="8250300" cy="1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Особые случаи и полезные приёмы</a:t>
            </a:r>
            <a:b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</a:b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73" name="Google Shape;473;p49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74" name="Google Shape;474;p49"/>
          <p:cNvSpPr/>
          <p:nvPr/>
        </p:nvSpPr>
        <p:spPr>
          <a:xfrm>
            <a:off x="446850" y="1639150"/>
            <a:ext cx="8250300" cy="32832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"/>
              <a:buAutoNum type="arabicPeriod"/>
            </a:pPr>
            <a:r>
              <a:rPr lang="ru" sz="1800">
                <a:latin typeface="Onest Medium"/>
                <a:ea typeface="Onest Medium"/>
                <a:cs typeface="Onest Medium"/>
                <a:sym typeface="Onest Medium"/>
              </a:rPr>
              <a:t>Если aˣ = 1 (a &gt; 0, a ≠ 1), то x = 0, так как a⁰ = 1 при любом основании.</a:t>
            </a: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"/>
              <a:buAutoNum type="arabicPeriod"/>
            </a:pPr>
            <a:r>
              <a:rPr lang="ru" sz="1800">
                <a:latin typeface="Onest Medium"/>
                <a:ea typeface="Onest Medium"/>
                <a:cs typeface="Onest Medium"/>
                <a:sym typeface="Onest Medium"/>
              </a:rPr>
              <a:t>Если aˣ = a, то x = 1.</a:t>
            </a: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"/>
              <a:buAutoNum type="arabicPeriod"/>
            </a:pPr>
            <a:r>
              <a:rPr lang="ru" sz="1800">
                <a:latin typeface="Onest Medium"/>
                <a:ea typeface="Onest Medium"/>
                <a:cs typeface="Onest Medium"/>
                <a:sym typeface="Onest Medium"/>
              </a:rPr>
              <a:t>Показательное уравнение вида aᶠ⁽ˣ⁾ = aᵍ⁽ˣ⁾ равносильно уравнению f(x) = g(x) при a &gt; 0, a ≠ 1.</a:t>
            </a: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Onest"/>
              <a:buAutoNum type="arabicPeriod"/>
            </a:pPr>
            <a:r>
              <a:rPr lang="ru" sz="1800">
                <a:latin typeface="Onest Medium"/>
                <a:ea typeface="Onest Medium"/>
                <a:cs typeface="Onest Medium"/>
                <a:sym typeface="Onest Medium"/>
              </a:rPr>
              <a:t>Для чётных степеней и корней важно следить за областью допустимых значений переменной.</a:t>
            </a: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Примеры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80" name="Google Shape;480;p50"/>
          <p:cNvSpPr/>
          <p:nvPr/>
        </p:nvSpPr>
        <p:spPr>
          <a:xfrm>
            <a:off x="9262300" y="1042750"/>
            <a:ext cx="82503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Onest Medium"/>
                <a:ea typeface="Onest Medium"/>
                <a:cs typeface="Onest Medium"/>
                <a:sym typeface="Onest Medium"/>
              </a:rPr>
              <a:t>слайд с таблицей</a:t>
            </a: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481" name="Google Shape;481;p50"/>
          <p:cNvSpPr/>
          <p:nvPr/>
        </p:nvSpPr>
        <p:spPr>
          <a:xfrm>
            <a:off x="446850" y="969350"/>
            <a:ext cx="8250300" cy="39528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37301" name="AlgoCard"/>
          <p:cNvSpPr/>
          <p:nvPr/>
        </p:nvSpPr>
        <p:spPr>
          <a:xfrm>
            <a:off x="700000" y="1100000"/>
            <a:ext cx="7744000" cy="1650000"/>
          </a:xfrm>
          <a:prstGeom prst="roundRect">
            <a:avLst>
              <a:gd name="adj" fmla="val 5000"/>
            </a:avLst>
          </a:prstGeom>
          <a:solidFill>
            <a:srgbClr val="EAF7FF"/>
          </a:solidFill>
          <a:ln>
            <a:noFill/>
          </a:ln>
        </p:spPr>
        <p:txBody>
          <a:bodyPr wrap="square" lIns="220000" tIns="130000" rIns="180000" bIns="70000" anchor="t">
            <a:noAutofit/>
          </a:bodyPr>
          <a:lstStyle/>
          <a:p>
            <a:pPr marL="320000" indent="-320000" algn="l">
              <a:buAutoNum type="arabicPeriod"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Привести обе части уравнения (или неравенства) к одному основанию.</a:t>
            </a:r>
          </a:p>
          <a:p>
            <a:pPr marL="320000" indent="-320000" algn="l">
              <a:buAutoNum type="arabicPeriod"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Приравнять показатели (для неравенства — сравнить, учитывая, возрастает или убывает функция).</a:t>
            </a:r>
          </a:p>
          <a:p>
            <a:pPr marL="320000" indent="-320000" algn="l">
              <a:buAutoNum type="arabicPeriod"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Решить полученное уравнение или неравенство относительно переменной.</a:t>
            </a:r>
          </a:p>
        </p:txBody>
      </p:sp>
      <p:sp>
        <p:nvSpPr>
          <p:cNvPr id="37302" name="ExCard"/>
          <p:cNvSpPr/>
          <p:nvPr/>
        </p:nvSpPr>
        <p:spPr>
          <a:xfrm>
            <a:off x="700000" y="2970000"/>
            <a:ext cx="7744000" cy="18600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>
            <a:noFill/>
          </a:ln>
        </p:spPr>
        <p:txBody>
          <a:bodyPr wrap="square" lIns="0" tIns="0" rIns="0" bIns="0" anchor="t"/>
          <a:lstStyle/>
          <a:p>
            <a:pPr algn="l"/>
            <a:endParaRPr/>
          </a:p>
        </p:txBody>
      </p:sp>
      <p:sp>
        <p:nvSpPr>
          <p:cNvPr id="37303" name="ExLabel"/>
          <p:cNvSpPr txBox="1"/>
          <p:nvPr/>
        </p:nvSpPr>
        <p:spPr>
          <a:xfrm>
            <a:off x="920000" y="3060000"/>
            <a:ext cx="4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" sz="1800" b="1">
                <a:solidFill>
                  <a:srgbClr val="1A2B6B"/>
                </a:solidFill>
                <a:latin typeface="Onest"/>
                <a:ea typeface="Onest"/>
                <a:cs typeface="Onest"/>
                <a:sym typeface="Onest"/>
              </a:rPr>
              <a:t>Пример</a:t>
            </a:r>
          </a:p>
        </p:txBody>
      </p:sp>
      <p:pic>
        <p:nvPicPr>
          <p:cNvPr id="37304" name="ExIm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0000" y="3410000"/>
            <a:ext cx="4052941" cy="13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90" name="Google Shape;490;p51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5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492" name="Google Shape;492;p5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5" name="Google Shape;495;p5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496" name="Google Shape;496;p5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1" name="Expr 90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4857" y="1780000"/>
            <a:ext cx="1254285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02" name="Google Shape;502;p52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5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04" name="Google Shape;504;p5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05" name="Google Shape;50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7" name="Google Shape;507;p5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3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08" name="Google Shape;508;p5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2" name="Expr 90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4857" y="1780000"/>
            <a:ext cx="1254285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14" name="Google Shape;514;p53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16" name="Google Shape;516;p5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_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7" name="Google Shape;51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9" name="Google Shape;519;p5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20" name="Google Shape;520;p5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3" name="Expr 900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2000" y="1780000"/>
            <a:ext cx="206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26" name="Google Shape;526;p54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28" name="Google Shape;528;p5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2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29" name="Google Shape;5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1" name="Google Shape;531;p5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32" name="Google Shape;532;p5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4" name="Expr 900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2000" y="1780000"/>
            <a:ext cx="206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38" name="Google Shape;538;p55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40" name="Google Shape;540;p5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1" name="Google Shape;54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3" name="Google Shape;543;p5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44" name="Google Shape;544;p55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5" name="Expr 900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2000" y="1780000"/>
            <a:ext cx="250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50" name="Google Shape;550;p56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52" name="Google Shape;552;p5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53" name="Google Shape;553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5" name="Google Shape;555;p5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56" name="Google Shape;556;p5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6" name="Expr 900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2000" y="1780000"/>
            <a:ext cx="250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62" name="Google Shape;562;p57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64" name="Google Shape;564;p5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65" name="Google Shape;56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7" name="Google Shape;567;p5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68" name="Google Shape;568;p5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7" name="Expr 900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6285" y="1780000"/>
            <a:ext cx="1531428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74" name="Google Shape;574;p58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76" name="Google Shape;576;p5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77" name="Google Shape;57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5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9" name="Google Shape;579;p5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3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80" name="Google Shape;580;p5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8" name="Expr 90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6285" y="1780000"/>
            <a:ext cx="1531428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86" name="Google Shape;586;p59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588" name="Google Shape;588;p5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89" name="Google Shape;58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91" name="Google Shape;591;p5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92" name="Google Shape;592;p5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593" name="Google Shape;593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2000" y="1780000"/>
            <a:ext cx="214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599" name="Google Shape;599;p60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6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01" name="Google Shape;601;p6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02" name="Google Shape;60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04" name="Google Shape;604;p6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05" name="Google Shape;605;p6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06" name="Google Shape;606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2000" y="1780000"/>
            <a:ext cx="214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12" name="Google Shape;612;p61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6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14" name="Google Shape;614;p6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5" name="Google Shape;615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17" name="Google Shape;617;p6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18" name="Google Shape;618;p6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19" name="Google Shape;619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7714" y="1780000"/>
            <a:ext cx="17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25" name="Google Shape;625;p62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6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27" name="Google Shape;627;p6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28" name="Google Shape;628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6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0" name="Google Shape;630;p6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-4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31" name="Google Shape;631;p6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32" name="Google Shape;632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7714" y="1780000"/>
            <a:ext cx="17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38" name="Google Shape;638;p63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6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сумму корней: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40" name="Google Shape;640;p6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41" name="Google Shape;64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6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43" name="Google Shape;643;p6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44" name="Google Shape;644;p6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45" name="Google Shape;645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2000" y="1780000"/>
            <a:ext cx="264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51" name="Google Shape;651;p64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6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сумму корней: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53" name="Google Shape;653;p6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54" name="Google Shape;654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56" name="Google Shape;656;p6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5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57" name="Google Shape;657;p6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2000" y="1780000"/>
            <a:ext cx="2640000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64" name="Google Shape;664;p65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6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66" name="Google Shape;666;p6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67" name="Google Shape;667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9" name="Google Shape;669;p6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70" name="Google Shape;670;p65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71" name="Google Shape;671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7714" y="1780000"/>
            <a:ext cx="152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77" name="Google Shape;677;p66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79" name="Google Shape;679;p6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80" name="Google Shape;680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6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2" name="Google Shape;682;p6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5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83" name="Google Shape;683;p6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84" name="Google Shape;684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7714" y="1780000"/>
            <a:ext cx="152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90" name="Google Shape;690;p67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6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692" name="Google Shape;692;p6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93" name="Google Shape;693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6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95" name="Google Shape;695;p6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696" name="Google Shape;696;p6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697" name="Google Shape;697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7039" y="1780000"/>
            <a:ext cx="154992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03" name="Google Shape;703;p68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705" name="Google Shape;705;p6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6" name="Google Shape;706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6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08" name="Google Shape;708;p6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-3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10" name="Google Shape;710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7039" y="1780000"/>
            <a:ext cx="154992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16" name="Google Shape;716;p69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6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718" name="Google Shape;718;p6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19" name="Google Shape;719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21" name="Google Shape;721;p6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22" name="Google Shape;722;p6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23" name="Google Shape;723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0888" y="1780000"/>
            <a:ext cx="2862222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29" name="Google Shape;729;p70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7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731" name="Google Shape;731;p7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32" name="Google Shape;732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7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4" name="Google Shape;734;p7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35" name="Google Shape;735;p7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36" name="Google Shape;736;p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0888" y="1780000"/>
            <a:ext cx="2862222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2"/>
          <p:cNvSpPr/>
          <p:nvPr/>
        </p:nvSpPr>
        <p:spPr>
          <a:xfrm>
            <a:off x="447000" y="452475"/>
            <a:ext cx="8250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ОБРАТНАЯ СВЯЗЬ </a:t>
            </a:r>
            <a:endParaRPr sz="33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46" name="Google Shape;746;p72"/>
          <p:cNvSpPr txBox="1"/>
          <p:nvPr/>
        </p:nvSpPr>
        <p:spPr>
          <a:xfrm>
            <a:off x="447000" y="1646925"/>
            <a:ext cx="8250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Как тебе сегодняшний урок?</a:t>
            </a:r>
            <a:br>
              <a:rPr lang="ru" sz="20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</a:br>
            <a:r>
              <a:rPr lang="ru" sz="2000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Напиши свою оценку в чате.</a:t>
            </a:r>
            <a:endParaRPr sz="2000">
              <a:latin typeface="Onest"/>
              <a:ea typeface="Onest"/>
              <a:cs typeface="Onest"/>
              <a:sym typeface="Onest"/>
            </a:endParaRPr>
          </a:p>
        </p:txBody>
      </p:sp>
      <p:pic>
        <p:nvPicPr>
          <p:cNvPr id="747" name="Google Shape;74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122" y="-841130"/>
            <a:ext cx="507312" cy="50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7399" y="-841131"/>
            <a:ext cx="507312" cy="50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5677" y="-841922"/>
            <a:ext cx="507312" cy="50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3955" y="-841130"/>
            <a:ext cx="507312" cy="50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2232" y="-835125"/>
            <a:ext cx="583815" cy="5585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2" name="Google Shape;752;p72"/>
          <p:cNvGrpSpPr/>
          <p:nvPr/>
        </p:nvGrpSpPr>
        <p:grpSpPr>
          <a:xfrm>
            <a:off x="1470395" y="2661779"/>
            <a:ext cx="6203217" cy="1337071"/>
            <a:chOff x="1560058" y="2661779"/>
            <a:chExt cx="6203217" cy="1337071"/>
          </a:xfrm>
        </p:grpSpPr>
        <p:sp>
          <p:nvSpPr>
            <p:cNvPr id="753" name="Google Shape;753;p72"/>
            <p:cNvSpPr txBox="1"/>
            <p:nvPr/>
          </p:nvSpPr>
          <p:spPr>
            <a:xfrm>
              <a:off x="1679650" y="3641850"/>
              <a:ext cx="7047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chemeClr val="lt1"/>
                  </a:solidFill>
                  <a:latin typeface="Onest Black"/>
                  <a:ea typeface="Onest Black"/>
                  <a:cs typeface="Onest Black"/>
                  <a:sym typeface="Onest Black"/>
                </a:rPr>
                <a:t>1</a:t>
              </a:r>
              <a:endParaRPr>
                <a:latin typeface="Onest Black"/>
                <a:ea typeface="Onest Black"/>
                <a:cs typeface="Onest Black"/>
                <a:sym typeface="Onest Black"/>
              </a:endParaRPr>
            </a:p>
          </p:txBody>
        </p:sp>
        <p:sp>
          <p:nvSpPr>
            <p:cNvPr id="754" name="Google Shape;754;p72"/>
            <p:cNvSpPr txBox="1"/>
            <p:nvPr/>
          </p:nvSpPr>
          <p:spPr>
            <a:xfrm>
              <a:off x="3005675" y="3641850"/>
              <a:ext cx="7047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chemeClr val="lt1"/>
                  </a:solidFill>
                  <a:latin typeface="Onest Black"/>
                  <a:ea typeface="Onest Black"/>
                  <a:cs typeface="Onest Black"/>
                  <a:sym typeface="Onest Black"/>
                </a:rPr>
                <a:t>2</a:t>
              </a:r>
              <a:endParaRPr>
                <a:latin typeface="Onest Black"/>
                <a:ea typeface="Onest Black"/>
                <a:cs typeface="Onest Black"/>
                <a:sym typeface="Onest Black"/>
              </a:endParaRPr>
            </a:p>
          </p:txBody>
        </p:sp>
        <p:sp>
          <p:nvSpPr>
            <p:cNvPr id="755" name="Google Shape;755;p72"/>
            <p:cNvSpPr txBox="1"/>
            <p:nvPr/>
          </p:nvSpPr>
          <p:spPr>
            <a:xfrm>
              <a:off x="4331700" y="3641850"/>
              <a:ext cx="7047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chemeClr val="lt1"/>
                  </a:solidFill>
                  <a:latin typeface="Onest Black"/>
                  <a:ea typeface="Onest Black"/>
                  <a:cs typeface="Onest Black"/>
                  <a:sym typeface="Onest Black"/>
                </a:rPr>
                <a:t>3</a:t>
              </a:r>
              <a:endParaRPr>
                <a:latin typeface="Onest Black"/>
                <a:ea typeface="Onest Black"/>
                <a:cs typeface="Onest Black"/>
                <a:sym typeface="Onest Black"/>
              </a:endParaRPr>
            </a:p>
          </p:txBody>
        </p:sp>
        <p:sp>
          <p:nvSpPr>
            <p:cNvPr id="756" name="Google Shape;756;p72"/>
            <p:cNvSpPr txBox="1"/>
            <p:nvPr/>
          </p:nvSpPr>
          <p:spPr>
            <a:xfrm>
              <a:off x="5639050" y="3641850"/>
              <a:ext cx="7047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chemeClr val="lt1"/>
                  </a:solidFill>
                  <a:latin typeface="Onest Black"/>
                  <a:ea typeface="Onest Black"/>
                  <a:cs typeface="Onest Black"/>
                  <a:sym typeface="Onest Black"/>
                </a:rPr>
                <a:t>4</a:t>
              </a:r>
              <a:endParaRPr>
                <a:latin typeface="Onest Black"/>
                <a:ea typeface="Onest Black"/>
                <a:cs typeface="Onest Black"/>
                <a:sym typeface="Onest Black"/>
              </a:endParaRPr>
            </a:p>
          </p:txBody>
        </p:sp>
        <p:sp>
          <p:nvSpPr>
            <p:cNvPr id="757" name="Google Shape;757;p72"/>
            <p:cNvSpPr txBox="1"/>
            <p:nvPr/>
          </p:nvSpPr>
          <p:spPr>
            <a:xfrm>
              <a:off x="6993100" y="3641850"/>
              <a:ext cx="7047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>
                  <a:solidFill>
                    <a:schemeClr val="lt1"/>
                  </a:solidFill>
                  <a:latin typeface="Onest Black"/>
                  <a:ea typeface="Onest Black"/>
                  <a:cs typeface="Onest Black"/>
                  <a:sym typeface="Onest Black"/>
                </a:rPr>
                <a:t>5</a:t>
              </a:r>
              <a:endParaRPr>
                <a:latin typeface="Onest Black"/>
                <a:ea typeface="Onest Black"/>
                <a:cs typeface="Onest Black"/>
                <a:sym typeface="Onest Black"/>
              </a:endParaRPr>
            </a:p>
          </p:txBody>
        </p:sp>
        <p:pic>
          <p:nvPicPr>
            <p:cNvPr id="758" name="Google Shape;758;p72" title="no-background (47).png"/>
            <p:cNvPicPr preferRelativeResize="0"/>
            <p:nvPr/>
          </p:nvPicPr>
          <p:blipFill rotWithShape="1">
            <a:blip r:embed="rId9">
              <a:alphaModFix/>
            </a:blip>
            <a:srcRect l="65390" t="33983" b="33979"/>
            <a:stretch/>
          </p:blipFill>
          <p:spPr>
            <a:xfrm>
              <a:off x="1560058" y="2760916"/>
              <a:ext cx="974628" cy="902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9" name="Google Shape;759;p72" title="no-background (48)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726787" y="2661779"/>
              <a:ext cx="1216801" cy="121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0" name="Google Shape;760;p72" title="2138b14c-540e-4be6-9a5a-ed2e87030594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219513" y="2760925"/>
              <a:ext cx="899643" cy="902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1" name="Google Shape;761;p72" title="20f5248a-ae3b-412a-ac45-1ad3f8f1bd95.png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493325" y="2760925"/>
              <a:ext cx="899625" cy="907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2" name="Google Shape;762;p72" title="4de3d9b0-d86b-4c68-a19e-3c2add989a4a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863650" y="2760925"/>
              <a:ext cx="899625" cy="9077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3" name="Google Shape;763;p72" title="no-background (45)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71163" y="0"/>
            <a:ext cx="1921480" cy="192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72" title="no-background (50)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558416" y="1997306"/>
            <a:ext cx="1746967" cy="1746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3"/>
          <p:cNvSpPr txBox="1"/>
          <p:nvPr/>
        </p:nvSpPr>
        <p:spPr>
          <a:xfrm>
            <a:off x="488700" y="452475"/>
            <a:ext cx="8208300" cy="38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lt1"/>
                </a:solidFill>
                <a:latin typeface="Onest"/>
                <a:ea typeface="Onest"/>
                <a:cs typeface="Onest"/>
                <a:sym typeface="Onest"/>
              </a:rPr>
              <a:t>Спасибо за урок!</a:t>
            </a:r>
            <a:endParaRPr sz="3300" b="1">
              <a:solidFill>
                <a:schemeClr val="lt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70" name="Google Shape;770;p73"/>
          <p:cNvSpPr txBox="1"/>
          <p:nvPr/>
        </p:nvSpPr>
        <p:spPr>
          <a:xfrm rot="-504044">
            <a:off x="3137694" y="2876210"/>
            <a:ext cx="3000090" cy="59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До встречи :)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4"/>
          <p:cNvSpPr/>
          <p:nvPr/>
        </p:nvSpPr>
        <p:spPr>
          <a:xfrm>
            <a:off x="446575" y="373950"/>
            <a:ext cx="8250300" cy="4322400"/>
          </a:xfrm>
          <a:prstGeom prst="roundRect">
            <a:avLst>
              <a:gd name="adj" fmla="val 76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74"/>
          <p:cNvSpPr/>
          <p:nvPr/>
        </p:nvSpPr>
        <p:spPr>
          <a:xfrm>
            <a:off x="447000" y="1108125"/>
            <a:ext cx="8250300" cy="7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  <p:sp>
        <p:nvSpPr>
          <p:cNvPr id="777" name="Google Shape;777;p74"/>
          <p:cNvSpPr/>
          <p:nvPr/>
        </p:nvSpPr>
        <p:spPr>
          <a:xfrm>
            <a:off x="546225" y="162672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Домашняя работа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778" name="Google Shape;778;p7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9" name="Google Shape;779;p74"/>
          <p:cNvSpPr txBox="1"/>
          <p:nvPr/>
        </p:nvSpPr>
        <p:spPr>
          <a:xfrm>
            <a:off x="49625" y="2133475"/>
            <a:ext cx="91440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950" i="1">
                <a:solidFill>
                  <a:schemeClr val="accent2"/>
                </a:solidFill>
                <a:latin typeface="Onest Medium"/>
                <a:ea typeface="Onest Medium"/>
                <a:cs typeface="Onest Medium"/>
                <a:sym typeface="Onest Medium"/>
              </a:rPr>
              <a:t>(10 заданий с автопроверкой)</a:t>
            </a:r>
            <a:endParaRPr sz="300" i="1">
              <a:solidFill>
                <a:schemeClr val="dk1"/>
              </a:solidFill>
              <a:latin typeface="Onest Medium"/>
              <a:ea typeface="Onest Medium"/>
              <a:cs typeface="Onest Medium"/>
              <a:sym typeface="Onest Medium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85" name="Google Shape;785;p75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7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787" name="Google Shape;787;p7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88" name="Google Shape;788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7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0" name="Google Shape;790;p7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91" name="Google Shape;791;p75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792" name="Google Shape;792;p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2650555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798" name="Google Shape;798;p76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7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00" name="Google Shape;800;p7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01" name="Google Shape;801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7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03" name="Google Shape;803;p7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25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04" name="Google Shape;804;p7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05" name="Google Shape;805;p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2650555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11" name="Google Shape;811;p77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7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13" name="Google Shape;813;p7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4" name="Google Shape;814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16" name="Google Shape;816;p7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17" name="Google Shape;817;p7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18" name="Google Shape;818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228184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2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24" name="Google Shape;824;p78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7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26" name="Google Shape;826;p7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27" name="Google Shape;827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9" name="Google Shape;829;p7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9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30" name="Google Shape;830;p7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31" name="Google Shape;831;p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2281842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37" name="Google Shape;837;p79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7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39" name="Google Shape;839;p7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40" name="Google Shape;84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2" name="Google Shape;842;p7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43" name="Google Shape;843;p7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44" name="Google Shape;844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1191666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3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50" name="Google Shape;850;p80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8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52" name="Google Shape;852;p8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53" name="Google Shape;85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8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5" name="Google Shape;855;p8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56" name="Google Shape;856;p8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1191666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63" name="Google Shape;863;p81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8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65" name="Google Shape;865;p8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66" name="Google Shape;866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8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8" name="Google Shape;868;p8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69" name="Google Shape;869;p8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70" name="Google Shape;870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1848888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4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76" name="Google Shape;876;p82"/>
          <p:cNvSpPr/>
          <p:nvPr/>
        </p:nvSpPr>
        <p:spPr>
          <a:xfrm>
            <a:off x="446575" y="1108125"/>
            <a:ext cx="8250300" cy="11346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8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Найди значение выражения: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78" name="Google Shape;878;p8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79" name="Google Shape;879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8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345625"/>
            <a:ext cx="8250300" cy="2213700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1" name="Google Shape;881;p8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4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82" name="Google Shape;882;p8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83" name="Google Shape;883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213" y="1350425"/>
            <a:ext cx="1848888" cy="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89" name="Google Shape;889;p83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8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891" name="Google Shape;891;p8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92" name="Google Shape;892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94" name="Google Shape;894;p8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895" name="Google Shape;895;p8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896" name="Google Shape;896;p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7714" y="1780000"/>
            <a:ext cx="21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5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02" name="Google Shape;902;p84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8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04" name="Google Shape;904;p8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05" name="Google Shape;905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07" name="Google Shape;907;p8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08" name="Google Shape;908;p8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7714" y="1780000"/>
            <a:ext cx="21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5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15" name="Google Shape;915;p85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85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17" name="Google Shape;917;p85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_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20" name="Google Shape;920;p85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21" name="Google Shape;921;p85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09" name="Expr 90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428" y="1780000"/>
            <a:ext cx="2317142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6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6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27" name="Google Shape;927;p86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86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29" name="Google Shape;929;p86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1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30" name="Google Shape;930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6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32" name="Google Shape;932;p86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1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33" name="Google Shape;933;p86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10" name="Expr 90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3428" y="1780000"/>
            <a:ext cx="2317142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7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39" name="Google Shape;939;p87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87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41" name="Google Shape;941;p87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42" name="Google Shape;942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7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44" name="Google Shape;944;p87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45" name="Google Shape;945;p87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11" name="Expr 90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7714" y="1780000"/>
            <a:ext cx="17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88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7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51" name="Google Shape;951;p88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88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корень: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53" name="Google Shape;953;p88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8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56" name="Google Shape;956;p88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1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57" name="Google Shape;957;p88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012" name="Expr 90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7714" y="1780000"/>
            <a:ext cx="176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89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63" name="Google Shape;963;p89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89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65" name="Google Shape;965;p89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66" name="Google Shape;966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89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8" name="Google Shape;968;p89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69" name="Google Shape;969;p89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70" name="Google Shape;970;p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7714" y="1780000"/>
            <a:ext cx="152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90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8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76" name="Google Shape;976;p90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90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78" name="Google Shape;978;p90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79" name="Google Shape;979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90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81" name="Google Shape;981;p90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5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82" name="Google Shape;982;p90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83" name="Google Shape;983;p9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7714" y="1780000"/>
            <a:ext cx="1528571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1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89" name="Google Shape;989;p91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91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991" name="Google Shape;991;p91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92" name="Google Shape;99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1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4" name="Google Shape;994;p91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995" name="Google Shape;995;p91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996" name="Google Shape;996;p9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1762" y="1780000"/>
            <a:ext cx="1560474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2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9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02" name="Google Shape;1002;p92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92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неравенство. Укажи наименьшее целое решение: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1004" name="Google Shape;1004;p92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05" name="Google Shape;1005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2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7" name="Google Shape;1007;p92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-2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08" name="Google Shape;1008;p92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009" name="Google Shape;1009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1762" y="1780000"/>
            <a:ext cx="1560474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3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15" name="Google Shape;1015;p93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93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сумму корней: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1017" name="Google Shape;1017;p93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18" name="Google Shape;101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93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0" name="Google Shape;1020;p93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_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21" name="Google Shape;1021;p93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022" name="Google Shape;1022;p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2606" y="1780000"/>
            <a:ext cx="2078787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94"/>
          <p:cNvSpPr/>
          <p:nvPr/>
        </p:nvSpPr>
        <p:spPr>
          <a:xfrm>
            <a:off x="447000" y="452475"/>
            <a:ext cx="82503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rPr>
              <a:t>Задание 10</a:t>
            </a:r>
            <a:endParaRPr sz="3300" b="1">
              <a:solidFill>
                <a:schemeClr val="dk1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28" name="Google Shape;1028;p94"/>
          <p:cNvSpPr/>
          <p:nvPr/>
        </p:nvSpPr>
        <p:spPr>
          <a:xfrm>
            <a:off x="446575" y="1108125"/>
            <a:ext cx="8250300" cy="1350000"/>
          </a:xfrm>
          <a:prstGeom prst="roundRect">
            <a:avLst>
              <a:gd name="adj" fmla="val 2833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94"/>
          <p:cNvSpPr txBox="1"/>
          <p:nvPr/>
        </p:nvSpPr>
        <p:spPr>
          <a:xfrm>
            <a:off x="447000" y="1246225"/>
            <a:ext cx="825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Реши уравнение. В ответе укажи сумму корней:</a:t>
            </a:r>
            <a:endParaRPr sz="1800">
              <a:solidFill>
                <a:srgbClr val="101010"/>
              </a:solidFill>
              <a:latin typeface="Onest"/>
              <a:ea typeface="Onest"/>
              <a:cs typeface="Onest"/>
              <a:sym typeface="Onest"/>
            </a:endParaRPr>
          </a:p>
        </p:txBody>
      </p:sp>
      <p:graphicFrame>
        <p:nvGraphicFramePr>
          <p:cNvPr id="1030" name="Google Shape;1030;p94"/>
          <p:cNvGraphicFramePr/>
          <p:nvPr/>
        </p:nvGraphicFramePr>
        <p:xfrm>
          <a:off x="0" y="529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{89BADC2B-27D6-409B-A2B3-EC1483D6214C}</a:tableStyleId>
              </a:tblPr>
              <a:tblGrid>
                <a:gridCol w="152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Тип конструктора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latin typeface="Onest"/>
                          <a:ea typeface="Onest"/>
                          <a:cs typeface="Onest"/>
                          <a:sym typeface="Onest"/>
                        </a:rPr>
                        <a:t>ПВ</a:t>
                      </a:r>
                      <a:endParaRPr sz="1100">
                        <a:latin typeface="Onest"/>
                        <a:ea typeface="Onest"/>
                        <a:cs typeface="Onest"/>
                        <a:sym typeface="One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31" name="Google Shape;1031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05067">
            <a:off x="7223495" y="127620"/>
            <a:ext cx="1584107" cy="158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4"/>
          <p:cNvPicPr preferRelativeResize="0"/>
          <p:nvPr/>
        </p:nvPicPr>
        <p:blipFill rotWithShape="1">
          <a:blip r:embed="rId4">
            <a:alphaModFix/>
          </a:blip>
          <a:srcRect l="9551" t="36056" r="7323" b="28939"/>
          <a:stretch/>
        </p:blipFill>
        <p:spPr>
          <a:xfrm>
            <a:off x="496600" y="2560000"/>
            <a:ext cx="8250300" cy="1999325"/>
          </a:xfrm>
          <a:prstGeom prst="roundRect">
            <a:avLst>
              <a:gd name="adj" fmla="val 8124"/>
            </a:avLst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33" name="Google Shape;1033;p94"/>
          <p:cNvSpPr txBox="1"/>
          <p:nvPr/>
        </p:nvSpPr>
        <p:spPr>
          <a:xfrm>
            <a:off x="7304975" y="4741807"/>
            <a:ext cx="1441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01010"/>
                </a:solidFill>
                <a:latin typeface="Onest"/>
                <a:ea typeface="Onest"/>
                <a:cs typeface="Onest"/>
                <a:sym typeface="Onest"/>
              </a:rPr>
              <a:t>Ответ: </a:t>
            </a:r>
            <a:r>
              <a:rPr lang="ru" sz="1800">
                <a:solidFill>
                  <a:srgbClr val="101010"/>
                </a:solidFill>
                <a:highlight>
                  <a:srgbClr val="BEE6FF"/>
                </a:highlight>
                <a:latin typeface="Onest"/>
                <a:ea typeface="Onest"/>
                <a:cs typeface="Onest"/>
                <a:sym typeface="Onest"/>
              </a:rPr>
              <a:t>2</a:t>
            </a:r>
            <a:endParaRPr sz="1800">
              <a:solidFill>
                <a:srgbClr val="101010"/>
              </a:solidFill>
              <a:highlight>
                <a:srgbClr val="BEE6FF"/>
              </a:highlight>
              <a:latin typeface="Onest"/>
              <a:ea typeface="Onest"/>
              <a:cs typeface="Onest"/>
              <a:sym typeface="Onest"/>
            </a:endParaRPr>
          </a:p>
        </p:txBody>
      </p:sp>
      <p:sp>
        <p:nvSpPr>
          <p:cNvPr id="1034" name="Google Shape;1034;p94"/>
          <p:cNvSpPr txBox="1"/>
          <p:nvPr/>
        </p:nvSpPr>
        <p:spPr>
          <a:xfrm>
            <a:off x="571750" y="4559325"/>
            <a:ext cx="659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00000"/>
                </a:solidFill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В ответ запиши только число</a:t>
            </a:r>
            <a:r>
              <a:rPr lang="ru" sz="1200">
                <a:highlight>
                  <a:srgbClr val="BEE6FF"/>
                </a:highlight>
                <a:latin typeface="Onest Medium"/>
                <a:ea typeface="Onest Medium"/>
                <a:cs typeface="Onest Medium"/>
                <a:sym typeface="Onest Medium"/>
              </a:rPr>
              <a:t>.</a:t>
            </a:r>
            <a:endParaRPr sz="1200" i="1">
              <a:solidFill>
                <a:srgbClr val="000000"/>
              </a:solidFill>
              <a:highlight>
                <a:srgbClr val="BEE6FF"/>
              </a:highlight>
              <a:latin typeface="Onest Medium"/>
              <a:ea typeface="Onest Medium"/>
              <a:cs typeface="Onest Medium"/>
              <a:sym typeface="Onest Medium"/>
            </a:endParaRPr>
          </a:p>
        </p:txBody>
      </p:sp>
      <p:pic>
        <p:nvPicPr>
          <p:cNvPr id="1035" name="Google Shape;1035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2606" y="1780000"/>
            <a:ext cx="2078787" cy="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2021</Words>
  <Application>Microsoft Office PowerPoint</Application>
  <PresentationFormat>Экран (16:9)</PresentationFormat>
  <Paragraphs>518</Paragraphs>
  <Slides>81</Slides>
  <Notes>81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81</vt:i4>
      </vt:variant>
    </vt:vector>
  </HeadingPairs>
  <TitlesOfParts>
    <vt:vector size="90" baseType="lpstr">
      <vt:lpstr>Arial</vt:lpstr>
      <vt:lpstr>Caveat</vt:lpstr>
      <vt:lpstr>Onest</vt:lpstr>
      <vt:lpstr>Onest Black</vt:lpstr>
      <vt:lpstr>Onest ExtraBold</vt:lpstr>
      <vt:lpstr>Onest Light</vt:lpstr>
      <vt:lpstr>Onest Medium</vt:lpstr>
      <vt:lpstr>Onest SemiBold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Илья Ермоленко</cp:lastModifiedBy>
  <cp:revision>2</cp:revision>
  <dcterms:modified xsi:type="dcterms:W3CDTF">2026-09-06T09:14:11Z</dcterms:modified>
</cp:coreProperties>
</file>